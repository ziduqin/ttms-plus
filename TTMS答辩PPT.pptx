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280160"/>
            <a:ext cx="54864" cy="237744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371600"/>
            <a:ext cx="69494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TTMS 电影院综合管理系统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1280160" y="21945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Spring Boot + Vue3 的电影票务管理平台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280160" y="2926080"/>
            <a:ext cx="2286000" cy="228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8" name="Text 6"/>
          <p:cNvSpPr/>
          <p:nvPr/>
        </p:nvSpPr>
        <p:spPr>
          <a:xfrm>
            <a:off x="1280160" y="3200400"/>
            <a:ext cx="4572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课程设计答辩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80160" y="3611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2026年6月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  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1097280" y="1417320"/>
            <a:ext cx="329184" cy="329184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1097280" y="14173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645920" y="141732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项目背景与需求分析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1645920" y="1783080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97280" y="1810512"/>
            <a:ext cx="329184" cy="329184"/>
          </a:xfrm>
          <a:prstGeom prst="ellipse">
            <a:avLst/>
          </a:prstGeom>
          <a:solidFill>
            <a:srgbClr val="2C5F7C"/>
          </a:solidFill>
          <a:ln/>
        </p:spPr>
      </p:sp>
      <p:sp>
        <p:nvSpPr>
          <p:cNvPr id="12" name="Text 10"/>
          <p:cNvSpPr/>
          <p:nvPr/>
        </p:nvSpPr>
        <p:spPr>
          <a:xfrm>
            <a:off x="1097280" y="181051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645920" y="18105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技术选型与系统架构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1645920" y="2176272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2203704"/>
            <a:ext cx="329184" cy="329184"/>
          </a:xfrm>
          <a:prstGeom prst="ellipse">
            <a:avLst/>
          </a:prstGeom>
          <a:solidFill>
            <a:srgbClr val="3B8BA8"/>
          </a:solidFill>
          <a:ln/>
        </p:spPr>
      </p:sp>
      <p:sp>
        <p:nvSpPr>
          <p:cNvPr id="16" name="Text 14"/>
          <p:cNvSpPr/>
          <p:nvPr/>
        </p:nvSpPr>
        <p:spPr>
          <a:xfrm>
            <a:off x="1097280" y="2203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645920" y="220370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1645920" y="2569464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596896"/>
            <a:ext cx="329184" cy="329184"/>
          </a:xfrm>
          <a:prstGeom prst="ellipse">
            <a:avLst/>
          </a:prstGeom>
          <a:solidFill>
            <a:srgbClr val="4A9EBC"/>
          </a:solidFill>
          <a:ln/>
        </p:spPr>
      </p:sp>
      <p:sp>
        <p:nvSpPr>
          <p:cNvPr id="20" name="Text 18"/>
          <p:cNvSpPr/>
          <p:nvPr/>
        </p:nvSpPr>
        <p:spPr>
          <a:xfrm>
            <a:off x="1097280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645920" y="259689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核心业务流程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1645920" y="2962656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097280" y="2990088"/>
            <a:ext cx="329184" cy="329184"/>
          </a:xfrm>
          <a:prstGeom prst="ellipse">
            <a:avLst/>
          </a:prstGeom>
          <a:solidFill>
            <a:srgbClr val="6A1B9A"/>
          </a:solidFill>
          <a:ln/>
        </p:spPr>
      </p:sp>
      <p:sp>
        <p:nvSpPr>
          <p:cNvPr id="24" name="Text 22"/>
          <p:cNvSpPr/>
          <p:nvPr/>
        </p:nvSpPr>
        <p:spPr>
          <a:xfrm>
            <a:off x="1097280" y="29900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645920" y="2990088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增值功能模块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645920" y="3355848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097280" y="3383280"/>
            <a:ext cx="329184" cy="329184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8" name="Text 26"/>
          <p:cNvSpPr/>
          <p:nvPr/>
        </p:nvSpPr>
        <p:spPr>
          <a:xfrm>
            <a:off x="1097280" y="338328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45920" y="3383280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安全机制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1645920" y="3749040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97280" y="3776472"/>
            <a:ext cx="329184" cy="329184"/>
          </a:xfrm>
          <a:prstGeom prst="ellipse">
            <a:avLst/>
          </a:prstGeom>
          <a:solidFill>
            <a:srgbClr val="2C5F7C"/>
          </a:solidFill>
          <a:ln/>
        </p:spPr>
      </p:sp>
      <p:sp>
        <p:nvSpPr>
          <p:cNvPr id="32" name="Text 30"/>
          <p:cNvSpPr/>
          <p:nvPr/>
        </p:nvSpPr>
        <p:spPr>
          <a:xfrm>
            <a:off x="1097280" y="377647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45920" y="37764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并发控制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1645920" y="4142232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97280" y="4169664"/>
            <a:ext cx="329184" cy="329184"/>
          </a:xfrm>
          <a:prstGeom prst="ellipse">
            <a:avLst/>
          </a:prstGeom>
          <a:solidFill>
            <a:srgbClr val="3B8BA8"/>
          </a:solidFill>
          <a:ln/>
        </p:spPr>
      </p:sp>
      <p:sp>
        <p:nvSpPr>
          <p:cNvPr id="36" name="Text 34"/>
          <p:cNvSpPr/>
          <p:nvPr/>
        </p:nvSpPr>
        <p:spPr>
          <a:xfrm>
            <a:off x="1097280" y="416966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1645920" y="4169664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前端设计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1645920" y="4535424"/>
            <a:ext cx="5029200" cy="0"/>
          </a:xfrm>
          <a:prstGeom prst="line">
            <a:avLst/>
          </a:prstGeom>
          <a:noFill/>
          <a:ln w="9525">
            <a:solidFill>
              <a:srgbClr val="D6E8F0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97280" y="4562856"/>
            <a:ext cx="329184" cy="329184"/>
          </a:xfrm>
          <a:prstGeom prst="ellipse">
            <a:avLst/>
          </a:prstGeom>
          <a:solidFill>
            <a:srgbClr val="4A9EBC"/>
          </a:solidFill>
          <a:ln/>
        </p:spPr>
      </p:sp>
      <p:sp>
        <p:nvSpPr>
          <p:cNvPr id="40" name="Text 38"/>
          <p:cNvSpPr/>
          <p:nvPr/>
        </p:nvSpPr>
        <p:spPr>
          <a:xfrm>
            <a:off x="1097280" y="456285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1645920" y="4562856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项目亮点与总结展望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项目背景与意义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&amp; SIGNIFICANCE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传统影院票务痛点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3840480" cy="2194560"/>
          </a:xfrm>
          <a:prstGeom prst="rect">
            <a:avLst/>
          </a:prstGeom>
          <a:noFill/>
          <a:ln/>
        </p:spPr>
        <p:txBody>
          <a:bodyPr wrap="square" lIns="0" tIns="1905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人工售票效率低，高峰期排队严重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排片调度依赖纸质记录，容易冲突出错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会员与订单管理混乱，数据难以追溯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缺乏数据统计能力，经营决策凭经验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座位管理不透明，选座体验差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卖品销售与票务分离，无法联动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846320" y="1371600"/>
            <a:ext cx="365760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029200" y="150876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项目目标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5029200" y="2011680"/>
            <a:ext cx="54864" cy="41148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2" name="Text 10"/>
          <p:cNvSpPr/>
          <p:nvPr/>
        </p:nvSpPr>
        <p:spPr>
          <a:xfrm>
            <a:off x="5257800" y="20116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线上化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080760" y="2011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用户自主选座购票，享受会员折扣与优惠券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029200" y="2560320"/>
            <a:ext cx="54864" cy="41148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5" name="Text 13"/>
          <p:cNvSpPr/>
          <p:nvPr/>
        </p:nvSpPr>
        <p:spPr>
          <a:xfrm>
            <a:off x="5257800" y="256032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080760" y="256032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排片冲突检测、超时取消、积分自动升级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29200" y="3108960"/>
            <a:ext cx="54864" cy="41148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5257800" y="310896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一体化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080760" y="310896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票务+卖品+会员+优惠券一站式管理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0" y="3657600"/>
            <a:ext cx="54864" cy="41148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1" name="Text 19"/>
          <p:cNvSpPr/>
          <p:nvPr/>
        </p:nvSpPr>
        <p:spPr>
          <a:xfrm>
            <a:off x="5257800" y="365760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数据化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080760" y="365760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营收统计、交班对账、经营报表导出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 — 用户端功能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— USER PORTAL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150876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09728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注册与登录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4360" y="2029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用户自主注册，JWT认证，支持修改密码与实名信息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9184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429000" y="150876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浏览影片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429000" y="2029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影片列表分页展示，搜索、热门推荐、详情查看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26480" y="137160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63640" y="150876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263640" y="15087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766560" y="150876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选座购票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263640" y="202996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查看场次座位矩阵，可视化选座，使用优惠券下单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1089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324612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9728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会员中心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4360" y="37673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积分累积、等级升级、储值充值、余额支付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91840" y="31089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429000" y="324612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9" name="Text 27"/>
          <p:cNvSpPr/>
          <p:nvPr/>
        </p:nvSpPr>
        <p:spPr>
          <a:xfrm>
            <a:off x="342900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3192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我的订单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3429000" y="37673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电影票+卖品订单、改签退票、优惠券管理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3108960"/>
            <a:ext cx="2606040" cy="1508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263640" y="3246120"/>
            <a:ext cx="384048" cy="384048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4" name="Text 32"/>
          <p:cNvSpPr/>
          <p:nvPr/>
        </p:nvSpPr>
        <p:spPr>
          <a:xfrm>
            <a:off x="626364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766560" y="3246120"/>
            <a:ext cx="1828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卖品购买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263640" y="3767328"/>
            <a:ext cx="2331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浏览套餐与单品，在线下单，支持自取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需求分析 — 管理端功能与角色权限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 — ADMIN PORTAL &amp; ROLES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管理端功能模块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48463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影片管理 — 影片CRUD、上下架、设置热门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影厅管理 — 影厅CRUD、座位布局配置、状态维护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场次排片 — 创建场次、时间冲突检测、状态管理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订单管理 — 全部订单查询、协助用户下单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员工管理 — 员工CRUD、角色分配、权限控制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会员管理 — 等级配置、积分调整、用户销户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卖品管理 — 单品/套餐CRUD、POS下单、库存管理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优惠券管理 — 优惠券CRUD、发放与核销追踪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交接班 — 上班签到、下班交班、收款对账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数据统计 — 营收概览、票房排行、Excel报表导出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系统设置 — 影院信息、超时时间、操作日志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三级角色权限体系</a:t>
            </a:r>
            <a:endParaRPr lang="en-US" sz="1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760720" y="1828800"/>
          <a:ext cx="2926080" cy="914400"/>
        </p:xfrm>
        <a:graphic>
          <a:graphicData uri="http://schemas.openxmlformats.org/drawingml/2006/table">
            <a:tbl>
              <a:tblPr/>
              <a:tblGrid>
                <a:gridCol w="1005840"/>
                <a:gridCol w="19202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角色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权限范围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超级管理员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全部功能 + 系统设置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普通员工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票务/卖品/会员/交班 + 统计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普通用户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浏览/选座/下单/会员/优惠券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技术选型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TECHNOLOGY STACK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后端技术栈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384048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版本/说明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Spring Boot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3.2.5 — 核心框架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MyBatis-Plus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3.5.6 — ORM + 分页 + 逻辑删除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MySQL 8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InnoDB + utf8mb4 — 关系型数据库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Druid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1.2.22 — 数据库连接池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Spring Security 6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URL权限 + 方法级权限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JWT (jjwt)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0.12.5 — 无状态认证令牌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BCrypt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密码哈希加密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Apache POI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5.2.5 — Excel报表导出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Jackson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JSON序列化 + WRITE_ONLY防泄露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0292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前端技术栈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37360"/>
          <a:ext cx="365760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技术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用途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Vue 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前端框架，Composition API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Vue Router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SPA路由（History模式）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Pinia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状态管理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Axios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HTTP请求 + 拦截器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Element Plus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UI组件库（推断）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Vite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构建工具（推断）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640080" y="4434840"/>
            <a:ext cx="7863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开发环境：JDK 17 | Maven | Node.js | 前后端合并部署至单个 JAR 包</a:t>
            </a:r>
            <a:endParaRPr lang="en-US" sz="1000" dirty="0"/>
          </a:p>
        </p:txBody>
      </p:sp>
      <p:sp>
        <p:nvSpPr>
          <p:cNvPr id="12" name="Text 8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系统架构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914400" y="1417320"/>
            <a:ext cx="7315200" cy="457200"/>
          </a:xfrm>
          <a:prstGeom prst="rect">
            <a:avLst/>
          </a:prstGeom>
          <a:solidFill>
            <a:srgbClr val="4A9EB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51560" y="14173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 (Vue3 SPA)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114800" y="14173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 Router · Pinia · Axios · Element Plus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14400" y="1965960"/>
            <a:ext cx="7315200" cy="45720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051560" y="1965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/ REST API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14800" y="19659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JSON数据交互 · Bearer Token认证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7315200" cy="457200"/>
          </a:xfrm>
          <a:prstGeom prst="rect">
            <a:avLst/>
          </a:prstGeom>
          <a:solidFill>
            <a:srgbClr val="3B8BA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051560" y="25146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Spring Security 过滤器链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114800" y="251460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CORS → JWT Filter → URL鉴权 → @PreAuthorize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914400" y="3063240"/>
            <a:ext cx="7315200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051560" y="3063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Controller 层 (12个)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114800" y="306324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票务/会员/卖品/优惠券/交接班 · 统一ApiResponse · 全局异常处理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14400" y="3611880"/>
            <a:ext cx="7315200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5156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层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114800" y="361188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业务逻辑 · @Transactional事务管理 · 定时任务调度 · 积分/等级计算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14400" y="4160520"/>
            <a:ext cx="7315200" cy="45720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051560" y="41605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Mapper 层 (MyBatis-Plus)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114800" y="416052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BaseMapper&lt;T&gt; · 自定义SQL · 分页拦截 · 逻辑删除过滤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4709160"/>
            <a:ext cx="7315200" cy="45720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1051560" y="47091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MySQL 8 数据库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3977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18张表 · InnoDB · 行级锁 · 唯一约束兜底 · 关联查询优化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 — 总览 (18张表)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 — OVERVIEW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320040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1298448" cy="45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393192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role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93192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角色权限表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764792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1764792" y="1371600"/>
            <a:ext cx="1298448" cy="4572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13" name="Text 11"/>
          <p:cNvSpPr/>
          <p:nvPr/>
        </p:nvSpPr>
        <p:spPr>
          <a:xfrm>
            <a:off x="1837944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837944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顾客用户表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9544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209544" y="1371600"/>
            <a:ext cx="1298448" cy="4572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17" name="Text 15"/>
          <p:cNvSpPr/>
          <p:nvPr/>
        </p:nvSpPr>
        <p:spPr>
          <a:xfrm>
            <a:off x="3282696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employee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282696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员工管理员表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654296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654296" y="1371600"/>
            <a:ext cx="1298448" cy="45720"/>
          </a:xfrm>
          <a:prstGeom prst="rect">
            <a:avLst/>
          </a:prstGeom>
          <a:solidFill>
            <a:srgbClr val="3B8BA8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movie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727448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影片信息表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99048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99048" y="1371600"/>
            <a:ext cx="1298448" cy="45720"/>
          </a:xfrm>
          <a:prstGeom prst="rect">
            <a:avLst/>
          </a:prstGeom>
          <a:solidFill>
            <a:srgbClr val="3B8BA8"/>
          </a:solidFill>
          <a:ln/>
        </p:spPr>
      </p:sp>
      <p:sp>
        <p:nvSpPr>
          <p:cNvPr id="25" name="Text 23"/>
          <p:cNvSpPr/>
          <p:nvPr/>
        </p:nvSpPr>
        <p:spPr>
          <a:xfrm>
            <a:off x="6172200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3B8BA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hall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6172200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影厅布局表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7543800" y="137160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7543800" y="1371600"/>
            <a:ext cx="1298448" cy="457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9" name="Text 27"/>
          <p:cNvSpPr/>
          <p:nvPr/>
        </p:nvSpPr>
        <p:spPr>
          <a:xfrm>
            <a:off x="7616952" y="15087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E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7616952" y="201168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排片场次表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2926080"/>
            <a:ext cx="1298448" cy="457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33" name="Text 31"/>
          <p:cNvSpPr/>
          <p:nvPr/>
        </p:nvSpPr>
        <p:spPr>
          <a:xfrm>
            <a:off x="393192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4A9EB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seat</a:t>
            </a:r>
            <a:endParaRPr lang="en-US" sz="1500" dirty="0"/>
          </a:p>
        </p:txBody>
      </p:sp>
      <p:sp>
        <p:nvSpPr>
          <p:cNvPr id="34" name="Text 32"/>
          <p:cNvSpPr/>
          <p:nvPr/>
        </p:nvSpPr>
        <p:spPr>
          <a:xfrm>
            <a:off x="393192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座位实时状态表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1764792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1764792" y="2926080"/>
            <a:ext cx="1298448" cy="45720"/>
          </a:xfrm>
          <a:prstGeom prst="rect">
            <a:avLst/>
          </a:prstGeom>
          <a:solidFill>
            <a:srgbClr val="B8860B"/>
          </a:solidFill>
          <a:ln/>
        </p:spPr>
      </p:sp>
      <p:sp>
        <p:nvSpPr>
          <p:cNvPr id="37" name="Text 35"/>
          <p:cNvSpPr/>
          <p:nvPr/>
        </p:nvSpPr>
        <p:spPr>
          <a:xfrm>
            <a:off x="1837944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886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1837944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订单核心表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3209544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209544" y="2926080"/>
            <a:ext cx="1298448" cy="4572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41" name="Text 39"/>
          <p:cNvSpPr/>
          <p:nvPr/>
        </p:nvSpPr>
        <p:spPr>
          <a:xfrm>
            <a:off x="3282696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order_log</a:t>
            </a:r>
            <a:endParaRPr lang="en-US" sz="1500" dirty="0"/>
          </a:p>
        </p:txBody>
      </p:sp>
      <p:sp>
        <p:nvSpPr>
          <p:cNvPr id="42" name="Text 40"/>
          <p:cNvSpPr/>
          <p:nvPr/>
        </p:nvSpPr>
        <p:spPr>
          <a:xfrm>
            <a:off x="3282696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操作日志表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654296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54296" y="2926080"/>
            <a:ext cx="1298448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5" name="Text 43"/>
          <p:cNvSpPr/>
          <p:nvPr/>
        </p:nvSpPr>
        <p:spPr>
          <a:xfrm>
            <a:off x="4727448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coupon</a:t>
            </a:r>
            <a:endParaRPr lang="en-US" sz="1500" dirty="0"/>
          </a:p>
        </p:txBody>
      </p:sp>
      <p:sp>
        <p:nvSpPr>
          <p:cNvPr id="46" name="Text 44"/>
          <p:cNvSpPr/>
          <p:nvPr/>
        </p:nvSpPr>
        <p:spPr>
          <a:xfrm>
            <a:off x="4727448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优惠券定义表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6099048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8" name="Shape 46"/>
          <p:cNvSpPr/>
          <p:nvPr/>
        </p:nvSpPr>
        <p:spPr>
          <a:xfrm>
            <a:off x="6099048" y="2926080"/>
            <a:ext cx="1298448" cy="4572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49" name="Text 47"/>
          <p:cNvSpPr/>
          <p:nvPr/>
        </p:nvSpPr>
        <p:spPr>
          <a:xfrm>
            <a:off x="6172200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user_coupon</a:t>
            </a:r>
            <a:endParaRPr lang="en-US" sz="1500" dirty="0"/>
          </a:p>
        </p:txBody>
      </p:sp>
      <p:sp>
        <p:nvSpPr>
          <p:cNvPr id="50" name="Text 48"/>
          <p:cNvSpPr/>
          <p:nvPr/>
        </p:nvSpPr>
        <p:spPr>
          <a:xfrm>
            <a:off x="6172200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用户领券记录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543800" y="292608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7543800" y="2926080"/>
            <a:ext cx="1298448" cy="4572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53" name="Text 51"/>
          <p:cNvSpPr/>
          <p:nvPr/>
        </p:nvSpPr>
        <p:spPr>
          <a:xfrm>
            <a:off x="7616952" y="30632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6A1B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member_level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7616952" y="356616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会员等级配置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320040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320040" y="4480560"/>
            <a:ext cx="1298448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57" name="Text 55"/>
          <p:cNvSpPr/>
          <p:nvPr/>
        </p:nvSpPr>
        <p:spPr>
          <a:xfrm>
            <a:off x="393192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</a:t>
            </a:r>
            <a:endParaRPr lang="en-US" sz="1500" dirty="0"/>
          </a:p>
        </p:txBody>
      </p:sp>
      <p:sp>
        <p:nvSpPr>
          <p:cNvPr id="58" name="Text 56"/>
          <p:cNvSpPr/>
          <p:nvPr/>
        </p:nvSpPr>
        <p:spPr>
          <a:xfrm>
            <a:off x="393192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卖品单品表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1764792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0" name="Shape 58"/>
          <p:cNvSpPr/>
          <p:nvPr/>
        </p:nvSpPr>
        <p:spPr>
          <a:xfrm>
            <a:off x="1764792" y="4480560"/>
            <a:ext cx="1298448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1" name="Text 59"/>
          <p:cNvSpPr/>
          <p:nvPr/>
        </p:nvSpPr>
        <p:spPr>
          <a:xfrm>
            <a:off x="1837944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snack_combo</a:t>
            </a:r>
            <a:endParaRPr lang="en-US" sz="1500" dirty="0"/>
          </a:p>
        </p:txBody>
      </p:sp>
      <p:sp>
        <p:nvSpPr>
          <p:cNvPr id="62" name="Text 60"/>
          <p:cNvSpPr/>
          <p:nvPr/>
        </p:nvSpPr>
        <p:spPr>
          <a:xfrm>
            <a:off x="1837944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卖品套餐表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3209544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4" name="Shape 62"/>
          <p:cNvSpPr/>
          <p:nvPr/>
        </p:nvSpPr>
        <p:spPr>
          <a:xfrm>
            <a:off x="3209544" y="4480560"/>
            <a:ext cx="1298448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65" name="Text 63"/>
          <p:cNvSpPr/>
          <p:nvPr/>
        </p:nvSpPr>
        <p:spPr>
          <a:xfrm>
            <a:off x="3282696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3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snack_order</a:t>
            </a:r>
            <a:endParaRPr lang="en-US" sz="1500" dirty="0"/>
          </a:p>
        </p:txBody>
      </p:sp>
      <p:sp>
        <p:nvSpPr>
          <p:cNvPr id="66" name="Text 64"/>
          <p:cNvSpPr/>
          <p:nvPr/>
        </p:nvSpPr>
        <p:spPr>
          <a:xfrm>
            <a:off x="3282696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卖品订单表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4654296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8" name="Shape 66"/>
          <p:cNvSpPr/>
          <p:nvPr/>
        </p:nvSpPr>
        <p:spPr>
          <a:xfrm>
            <a:off x="4654296" y="4480560"/>
            <a:ext cx="1298448" cy="4572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69" name="Text 67"/>
          <p:cNvSpPr/>
          <p:nvPr/>
        </p:nvSpPr>
        <p:spPr>
          <a:xfrm>
            <a:off x="4727448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</a:t>
            </a:r>
            <a:endParaRPr lang="en-US" sz="1500" dirty="0"/>
          </a:p>
        </p:txBody>
      </p:sp>
      <p:sp>
        <p:nvSpPr>
          <p:cNvPr id="70" name="Text 68"/>
          <p:cNvSpPr/>
          <p:nvPr/>
        </p:nvSpPr>
        <p:spPr>
          <a:xfrm>
            <a:off x="4727448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交接班次表</a:t>
            </a:r>
            <a:endParaRPr lang="en-US" sz="1000" dirty="0"/>
          </a:p>
        </p:txBody>
      </p:sp>
      <p:sp>
        <p:nvSpPr>
          <p:cNvPr id="71" name="Shape 69"/>
          <p:cNvSpPr/>
          <p:nvPr/>
        </p:nvSpPr>
        <p:spPr>
          <a:xfrm>
            <a:off x="6099048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2" name="Shape 70"/>
          <p:cNvSpPr/>
          <p:nvPr/>
        </p:nvSpPr>
        <p:spPr>
          <a:xfrm>
            <a:off x="6099048" y="4480560"/>
            <a:ext cx="1298448" cy="4572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73" name="Text 71"/>
          <p:cNvSpPr/>
          <p:nvPr/>
        </p:nvSpPr>
        <p:spPr>
          <a:xfrm>
            <a:off x="6172200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C5F7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shift_record</a:t>
            </a:r>
            <a:endParaRPr lang="en-US" sz="1500" dirty="0"/>
          </a:p>
        </p:txBody>
      </p:sp>
      <p:sp>
        <p:nvSpPr>
          <p:cNvPr id="74" name="Text 72"/>
          <p:cNvSpPr/>
          <p:nvPr/>
        </p:nvSpPr>
        <p:spPr>
          <a:xfrm>
            <a:off x="6172200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交班记录表</a:t>
            </a:r>
            <a:endParaRPr lang="en-US" sz="1000" dirty="0"/>
          </a:p>
        </p:txBody>
      </p:sp>
      <p:sp>
        <p:nvSpPr>
          <p:cNvPr id="75" name="Shape 73"/>
          <p:cNvSpPr/>
          <p:nvPr/>
        </p:nvSpPr>
        <p:spPr>
          <a:xfrm>
            <a:off x="7543800" y="4480560"/>
            <a:ext cx="1298448" cy="12984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7543800" y="4480560"/>
            <a:ext cx="1298448" cy="4572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77" name="Text 75"/>
          <p:cNvSpPr/>
          <p:nvPr/>
        </p:nvSpPr>
        <p:spPr>
          <a:xfrm>
            <a:off x="7616952" y="461772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system_config</a:t>
            </a:r>
            <a:endParaRPr lang="en-US" sz="1500" dirty="0"/>
          </a:p>
        </p:txBody>
      </p:sp>
      <p:sp>
        <p:nvSpPr>
          <p:cNvPr id="78" name="Text 76"/>
          <p:cNvSpPr/>
          <p:nvPr/>
        </p:nvSpPr>
        <p:spPr>
          <a:xfrm>
            <a:off x="7616952" y="5120640"/>
            <a:ext cx="1152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系统配置KV表</a:t>
            </a:r>
            <a:endParaRPr lang="en-US" sz="1000" dirty="0"/>
          </a:p>
        </p:txBody>
      </p:sp>
      <p:sp>
        <p:nvSpPr>
          <p:cNvPr id="79" name="Text 77"/>
          <p:cNvSpPr/>
          <p:nvPr/>
        </p:nvSpPr>
        <p:spPr>
          <a:xfrm>
            <a:off x="320040" y="4526280"/>
            <a:ext cx="8503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通用字段：create_time、update_time（自动填充）、deleted（@TableLogic 逻辑删除）。核心设计：冗余字段优化、乐观锁 WHERE status=0、唯一约束兜底</a:t>
            </a:r>
            <a:endParaRPr lang="en-US" sz="1000" dirty="0"/>
          </a:p>
        </p:txBody>
      </p:sp>
      <p:sp>
        <p:nvSpPr>
          <p:cNvPr id="80" name="Text 78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核心表深入(1) — 订单表 Order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DEEP DIVE — ORDER 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表结构</a:t>
            </a:r>
            <a:endParaRPr lang="en-US" sz="15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438912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005840"/>
                <a:gridCol w="2103120"/>
              </a:tblGrid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类型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order_no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VARCHAR(32)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订单号 yyyyMMdd+8位随机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user_id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关联顾客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schedule_id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关联场次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movie_id / hall_id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冗余字段，避免多层JOIN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seat_numbers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逗号分隔座位号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seat_count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座位数量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total_price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DECIMAL(10,2)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订单总价（含优惠券折扣后）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coupon_id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使用的优惠券ID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TINYINT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状态码 (0-5)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pay_time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支付完成时间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original_order_id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BIGINT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改签时的原订单ID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539496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订单状态机</a:t>
            </a:r>
            <a:endParaRPr lang="en-US" sz="1500" dirty="0"/>
          </a:p>
        </p:txBody>
      </p:sp>
      <p:sp>
        <p:nvSpPr>
          <p:cNvPr id="10" name="Shape 7"/>
          <p:cNvSpPr/>
          <p:nvPr/>
        </p:nvSpPr>
        <p:spPr>
          <a:xfrm>
            <a:off x="5715000" y="1874520"/>
            <a:ext cx="1005840" cy="594360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11" name="Text 8"/>
          <p:cNvSpPr/>
          <p:nvPr/>
        </p:nvSpPr>
        <p:spPr>
          <a:xfrm>
            <a:off x="571500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571500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待支付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6903720" y="1874520"/>
            <a:ext cx="1005840" cy="59436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4" name="Text 11"/>
          <p:cNvSpPr/>
          <p:nvPr/>
        </p:nvSpPr>
        <p:spPr>
          <a:xfrm>
            <a:off x="690372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690372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待观影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8001000" y="1874520"/>
            <a:ext cx="1005840" cy="59436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7" name="Text 14"/>
          <p:cNvSpPr/>
          <p:nvPr/>
        </p:nvSpPr>
        <p:spPr>
          <a:xfrm>
            <a:off x="8001000" y="1874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8001000" y="216712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已完成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715000" y="2743200"/>
            <a:ext cx="1005840" cy="59436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20" name="Text 17"/>
          <p:cNvSpPr/>
          <p:nvPr/>
        </p:nvSpPr>
        <p:spPr>
          <a:xfrm>
            <a:off x="57150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5715000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已改签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6903720" y="2743200"/>
            <a:ext cx="1005840" cy="594360"/>
          </a:xfrm>
          <a:prstGeom prst="rect">
            <a:avLst/>
          </a:prstGeom>
          <a:solidFill>
            <a:srgbClr val="C62828"/>
          </a:solidFill>
          <a:ln/>
        </p:spPr>
      </p:sp>
      <p:sp>
        <p:nvSpPr>
          <p:cNvPr id="23" name="Text 20"/>
          <p:cNvSpPr/>
          <p:nvPr/>
        </p:nvSpPr>
        <p:spPr>
          <a:xfrm>
            <a:off x="690372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6903720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已退票</a:t>
            </a:r>
            <a:endParaRPr lang="en-US" sz="900" dirty="0"/>
          </a:p>
        </p:txBody>
      </p:sp>
      <p:sp>
        <p:nvSpPr>
          <p:cNvPr id="25" name="Shape 22"/>
          <p:cNvSpPr/>
          <p:nvPr/>
        </p:nvSpPr>
        <p:spPr>
          <a:xfrm>
            <a:off x="8001000" y="2743200"/>
            <a:ext cx="1005840" cy="594360"/>
          </a:xfrm>
          <a:prstGeom prst="rect">
            <a:avLst/>
          </a:prstGeom>
          <a:solidFill>
            <a:srgbClr val="777777"/>
          </a:solidFill>
          <a:ln/>
        </p:spPr>
      </p:sp>
      <p:sp>
        <p:nvSpPr>
          <p:cNvPr id="26" name="Text 23"/>
          <p:cNvSpPr/>
          <p:nvPr/>
        </p:nvSpPr>
        <p:spPr>
          <a:xfrm>
            <a:off x="8001000" y="274320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8001000" y="303580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已过期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5394960" y="3520440"/>
            <a:ext cx="3291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从0到1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改签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从1到3（原订单）, 生成新订单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退票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从1到4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</a:t>
            </a:r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→ 从0到5（15分钟未支付自动取消）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核心表深入(2) — 座位表 Seat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DEEP DIVE — SEAT 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为什么座位要独立成表？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74520"/>
            <a:ext cx="54864" cy="7315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9202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独立生命周期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914400" y="21945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座位有 空闲→锁定→售出 的状态流转，不依赖订单存在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74320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743200"/>
            <a:ext cx="54864" cy="7315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7889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细粒度并发控制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" y="30632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status=0 乐观锁精确到每一行，互不干扰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611880"/>
            <a:ext cx="438912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611880"/>
            <a:ext cx="54864" cy="7315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6576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查询性能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4400" y="39319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COUNT(*) WHERE schedule_id=1 AND status=0 走索引，毫秒级响应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39496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座位生成策略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394960" y="1874520"/>
            <a:ext cx="320040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延迟初始化 (Lazy Init)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首次访问场次座位时才生成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生成规则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根据Hall的rowCount × colCount遍历创建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行号: A, B, C...Z, AA, AB...  编号: A-05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解析Hall.seatLayout JSON标记不可用座位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并发保护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二次检查防止并发生成重复座位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核心表深入(3) — 场次表 Schedule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DEEP DIVE — SCHEDULE TABLE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冗余字段设计：movie_id &amp; hall_id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43891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不冗余（3层JOIN）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→ schedule → movie → 拿到影片名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冗余（2层JOIN）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→ movie → 直接拿到影片名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冗余 = 历史快照</a:t>
            </a:r>
            <a:endParaRPr lang="en-US" sz="12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订单创建后 movie_id/hall_id 不再变化，保留用户下单时的历史记录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303520" y="13258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场次关键字段</a:t>
            </a:r>
            <a:endParaRPr lang="en-US" sz="1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303520" y="1828800"/>
          <a:ext cx="33832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19456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movie_id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关联影片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hall_id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关联影厅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start_time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放映开始时间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end_time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放映结束时间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price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场次票价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sold_count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已售座位数（原子操作）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0取消/1正常/2已结束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2F8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5303520" y="3931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排片冲突检测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5303520" y="42519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同一影厅内：新开始 &lt; 旧结束 AND 新结束 &gt; 旧开始 → 冲突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核心业务流程 — 下单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FLOW — CREATE ORDER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150876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987552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验证场次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194767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场次存在、status=1、未开始放映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60604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2697480" y="150876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5" name="Text 13"/>
          <p:cNvSpPr/>
          <p:nvPr/>
        </p:nvSpPr>
        <p:spPr>
          <a:xfrm>
            <a:off x="269748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36392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验证座位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2697480" y="194767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9748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逐一检查每个座位 status=0（空闲）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46320" y="150876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285232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生成订单号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846320" y="194767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yyyyMMdd + 8位随机字符，查重防碰撞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903720" y="141732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995160" y="150876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27" name="Text 25"/>
          <p:cNvSpPr/>
          <p:nvPr/>
        </p:nvSpPr>
        <p:spPr>
          <a:xfrm>
            <a:off x="6995160" y="150876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434072" y="15087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插入订单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995160" y="194767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995160" y="203911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order (status=0 待支付)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306324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48640" y="315468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987552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乐观锁锁定座位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548640" y="359359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seat SET status=1 WHERE id=? AND status=0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06040" y="306324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2697480" y="315468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269748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3136392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更新总价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2697480" y="359359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9748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总价 = 场次票价 × 座位数 − 优惠券折扣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754880" y="306324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846320" y="315468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5285232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原子增加售出数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4846320" y="359359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4632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 schedule SET sold_count = sold_count + 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6903720" y="3063240"/>
            <a:ext cx="1920240" cy="1417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6995160" y="3154680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51" name="Text 49"/>
          <p:cNvSpPr/>
          <p:nvPr/>
        </p:nvSpPr>
        <p:spPr>
          <a:xfrm>
            <a:off x="6995160" y="315468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7434072" y="315468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记录日志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95160" y="3593592"/>
            <a:ext cx="1737360" cy="0"/>
          </a:xfrm>
          <a:prstGeom prst="line">
            <a:avLst/>
          </a:prstGeom>
          <a:noFill/>
          <a:ln w="6350">
            <a:solidFill>
              <a:srgbClr val="D6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95160" y="3685032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 INTO order_log (CREATE)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57200" y="4526280"/>
            <a:ext cx="8229600" cy="3200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56" name="Text 54"/>
          <p:cNvSpPr/>
          <p:nvPr/>
        </p:nvSpPr>
        <p:spPr>
          <a:xfrm>
            <a:off x="640080" y="452628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 事务边界：全流程在同一事务中，任一步骤失败则全部回滚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核心业务流程 — 支付与改签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FLOW — PAY &amp; RESCHEDULE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支付流程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权限校验：只能支付自己的订单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状态校验：仅 status=0（待支付）可支付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场次校验：场次未开场才可支付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座位状态: 1(锁定) → 2(已售出)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订单状态: 0 → 1, 记录 pay_time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⑥ 核销优惠券（如有使用）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⑦ 累积会员积分 + 检查等级升级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⑧ 记录操作日志 (PAY)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4632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改签流程（核心难点）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46320" y="1783080"/>
            <a:ext cx="38404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验证原订单 status=1 且场次未开始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验证新场次有效、座位可用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③ 释放原座位 + 减少原场次 sold_count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④ 原订单 status → 3（已改签）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⑤ 计算价差：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846320" y="3337560"/>
            <a:ext cx="3840480" cy="1188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0" y="338328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价差处理逻辑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0" y="3703320"/>
            <a:ext cx="3474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 &gt; 旧（需补差价）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新订单 status=0（待支付），用户补差价后支付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新 ≤ 旧（无需补/需退款）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新订单 status=1（直接生效），座位直接标记已售出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核心业务流程 — 退票与超时取消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BUSINESS FLOW — REFUND &amp; TIMEOUT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退票流程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9319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验证：status=1（待观影）且场次未开始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释放所有关联座位 (status → 0)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原子减少 sold_count: sold_count - N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订单状态 → 4（已退票）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记录退票时间 + 操作日志 (REFUND)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" y="3657600"/>
            <a:ext cx="3931920" cy="548640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70332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当前不支持部分退票，仅支持整单退票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超时自动取消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029200" y="178308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@Scheduled(fixedDelay=120000)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每2分钟执行一次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扫描条件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status=0（待支付）AND 创建超过15分钟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处理动作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释放座位 → 减少 sold_count</a:t>
            </a:r>
            <a:endParaRPr lang="en-US" sz="1300" dirty="0"/>
          </a:p>
          <a:p>
            <a:pPr indent="0" marL="0">
              <a:spcAft>
                <a:spcPts val="1200"/>
              </a:spcAft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status 改为 5（已过期）→ 记录日志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容错设计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每个订单独立 try-catch，一个失败不影响其他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增值功能模块(1) — 会员体系与优惠券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FEATURES — MEMBERSHIP &amp; COUPONS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6A1B9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会员体系 (Member)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73736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等级配置 (member_level)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2011680"/>
          <a:ext cx="2743200" cy="914400"/>
        </p:xfrm>
        <a:graphic>
          <a:graphicData uri="http://schemas.openxmlformats.org/drawingml/2006/table">
            <a:tbl>
              <a:tblPr/>
              <a:tblGrid>
                <a:gridCol w="731520"/>
                <a:gridCol w="1005840"/>
                <a:gridCol w="1005840"/>
              </a:tblGrid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等级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最低消费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折扣率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6A1B9A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普通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¥0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100%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银卡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¥500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金卡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¥2000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90%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钻石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¥5000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85%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3657600" y="173736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核心逻辑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3657600" y="2011680"/>
            <a:ext cx="5029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消费1元=1分，卖品也计入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升级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积分达标自动升级，享受更高折扣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储值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余额充值，支持余额支付订单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兑换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100积分=¥5优惠券，积分当钱花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折扣</a:t>
            </a:r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下单时按会员等级自动计算折扣价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640080" y="32918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优惠券 (Coupon)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40080" y="3703320"/>
            <a:ext cx="320040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749040"/>
            <a:ext cx="2834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两种类型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822960" y="4005072"/>
            <a:ext cx="2834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FIXED 固定金额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如满50减10，直接抵扣固定金额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E65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PERCENT 折扣率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如0.6=打6折，按订单金额比例抵扣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4206240" y="329184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领用核销全链路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4206240" y="3703320"/>
            <a:ext cx="777240" cy="502920"/>
          </a:xfrm>
          <a:prstGeom prst="rect">
            <a:avLst/>
          </a:prstGeom>
          <a:solidFill>
            <a:srgbClr val="E6510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20624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创建发放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4983480" y="3767328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120640" y="3703320"/>
            <a:ext cx="777240" cy="50292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12064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浏览领取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5897880" y="3767328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035040" y="3703320"/>
            <a:ext cx="777240" cy="502920"/>
          </a:xfrm>
          <a:prstGeom prst="rect">
            <a:avLst/>
          </a:prstGeom>
          <a:solidFill>
            <a:srgbClr val="3B8BA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Text 21"/>
          <p:cNvSpPr/>
          <p:nvPr/>
        </p:nvSpPr>
        <p:spPr>
          <a:xfrm>
            <a:off x="603504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选座时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计算折扣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812280" y="3767328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6949440" y="3703320"/>
            <a:ext cx="777240" cy="50292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7" name="Text 24"/>
          <p:cNvSpPr/>
          <p:nvPr/>
        </p:nvSpPr>
        <p:spPr>
          <a:xfrm>
            <a:off x="694944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支付时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核销使用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7726680" y="3767328"/>
            <a:ext cx="137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200" dirty="0"/>
          </a:p>
        </p:txBody>
      </p:sp>
      <p:sp>
        <p:nvSpPr>
          <p:cNvPr id="29" name="Shape 26"/>
          <p:cNvSpPr/>
          <p:nvPr/>
        </p:nvSpPr>
        <p:spPr>
          <a:xfrm>
            <a:off x="7863840" y="3703320"/>
            <a:ext cx="777240" cy="502920"/>
          </a:xfrm>
          <a:prstGeom prst="rect">
            <a:avLst/>
          </a:prstGeom>
          <a:solidFill>
            <a:srgbClr val="77777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0" name="Text 27"/>
          <p:cNvSpPr/>
          <p:nvPr/>
        </p:nvSpPr>
        <p:spPr>
          <a:xfrm>
            <a:off x="7863840" y="3703320"/>
            <a:ext cx="777240" cy="502920"/>
          </a:xfrm>
          <a:prstGeom prst="rect">
            <a:avLst/>
          </a:prstGeom>
          <a:noFill/>
          <a:ln/>
        </p:spPr>
        <p:txBody>
          <a:bodyPr wrap="square" lIns="0" tIns="25400" rIns="2540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过期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自动失效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增值功能模块(2) — 卖品管理与交接班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EXTENDED FEATURES — SNACKS &amp; SHIFT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卖品管理 (Snack)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18745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874520"/>
            <a:ext cx="2606040" cy="4572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单品 (snack)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分类: 爆米花/饮料/零食/周边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2606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价格 + 库存管理（-1=无限）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2880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上下架状态控制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474720" y="18745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474720" y="1874520"/>
            <a:ext cx="2606040" cy="45720"/>
          </a:xfrm>
          <a:prstGeom prst="rect">
            <a:avLst/>
          </a:prstGeom>
          <a:solidFill>
            <a:srgbClr val="2C5F7C"/>
          </a:solidFill>
          <a:ln/>
        </p:spPr>
      </p:sp>
      <p:sp>
        <p:nvSpPr>
          <p:cNvPr id="16" name="Text 14"/>
          <p:cNvSpPr/>
          <p:nvPr/>
        </p:nvSpPr>
        <p:spPr>
          <a:xfrm>
            <a:off x="3611880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套餐 (snack_combo)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组合多个单品，套餐价更优惠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3611880" y="2606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originalPrice 展示节省金额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11880" y="2880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关联单品列表(JSON数组)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309360" y="1874520"/>
            <a:ext cx="26060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309360" y="1874520"/>
            <a:ext cx="2606040" cy="4572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2" name="Text 20"/>
          <p:cNvSpPr/>
          <p:nvPr/>
        </p:nvSpPr>
        <p:spPr>
          <a:xfrm>
            <a:off x="6446520" y="198424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 (snack_order)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33172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orderNo 订单号 SNK+日期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6446520" y="2606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可关联电影订单或单独购买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446520" y="288036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卖品消费也累积会员积分！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640080" y="3474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交接班管理 (Shift)</a:t>
            </a:r>
            <a:endParaRPr lang="en-US" sz="1700" dirty="0"/>
          </a:p>
        </p:txBody>
      </p:sp>
      <p:sp>
        <p:nvSpPr>
          <p:cNvPr id="27" name="Shape 25"/>
          <p:cNvSpPr/>
          <p:nvPr/>
        </p:nvSpPr>
        <p:spPr>
          <a:xfrm>
            <a:off x="640080" y="3886200"/>
            <a:ext cx="3931920" cy="822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822960" y="39319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流程：上班签到 → 在岗工作 → 下班交班（填写收款明细）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22960" y="4206240"/>
            <a:ext cx="3566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同一员工只能有一个进行中的班次，需先结束才能再次签到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846320" y="3474720"/>
            <a:ext cx="384048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029200" y="35204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交班对账 (shift_record)</a:t>
            </a:r>
            <a:endParaRPr lang="en-US" sz="13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3840480"/>
          <a:ext cx="34747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228600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字段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说明</a:t>
                      </a:r>
                      <a:endParaRPr lang="en-US" sz="8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5F7C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现金收款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cashCollected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微信收款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wechatCollected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支付宝收款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alipayCollected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系统统计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systemTotal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差额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difference = 实收 − 系统统计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售票/退票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ticketsSold / ticketsRefunded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3" name="Text 30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安全机制 — JWT 认证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JWT AUTHENTICATION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228600" y="1463040"/>
            <a:ext cx="1005840" cy="10058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2860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用户登录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/api/auth/login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34440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344168" y="1463040"/>
            <a:ext cx="1005840" cy="100584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44168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BCrypt验证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密码比对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350008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459736" y="1463040"/>
            <a:ext cx="1005840" cy="1005840"/>
          </a:xfrm>
          <a:prstGeom prst="rect">
            <a:avLst/>
          </a:prstGeom>
          <a:solidFill>
            <a:srgbClr val="3B8BA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459736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生成JWT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{userId, role, exp:24h}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465576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575304" y="1463040"/>
            <a:ext cx="1005840" cy="1005840"/>
          </a:xfrm>
          <a:prstGeom prst="rect">
            <a:avLst/>
          </a:prstGeom>
          <a:solidFill>
            <a:srgbClr val="4A9EB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575304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返回Token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+用户信息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81144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4690872" y="1463040"/>
            <a:ext cx="1005840" cy="10058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90872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前端存储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localStorage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5696712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5806440" y="1463040"/>
            <a:ext cx="1005840" cy="1005840"/>
          </a:xfrm>
          <a:prstGeom prst="rect">
            <a:avLst/>
          </a:prstGeom>
          <a:solidFill>
            <a:srgbClr val="2C5F7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806440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每次请求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Authorization Header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6922008" y="1463040"/>
            <a:ext cx="1005840" cy="1005840"/>
          </a:xfrm>
          <a:prstGeom prst="rect">
            <a:avLst/>
          </a:prstGeom>
          <a:solidFill>
            <a:srgbClr val="3B8BA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22008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Filter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解析验证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927848" y="1645920"/>
            <a:ext cx="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8037576" y="1463040"/>
            <a:ext cx="1005840" cy="1005840"/>
          </a:xfrm>
          <a:prstGeom prst="rect">
            <a:avLst/>
          </a:prstGeom>
          <a:solidFill>
            <a:srgbClr val="4A9EBC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8037576" y="146304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50800" rIns="5080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SecurityContext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设置认证信息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技术细节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40080" y="3200400"/>
            <a:ext cx="39319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签名算法：HMAC-SHA256，密钥配置在 jwt.secret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载荷内容：userId, username, role, loginType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有效期：24小时，过期需重新登录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白名单路径：/api/auth/**、/api/schedules/query/**、/uploads/**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解析后存入 SecurityContextHolder（ThreadLocal）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846320" y="2788920"/>
            <a:ext cx="38404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029200" y="2852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Token 结构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029200" y="3218688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Header:  {"alg": "HS256", "typ": "JWT"}</a:t>
            </a:r>
            <a:endParaRPr lang="en-US" sz="9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Payload: {"userId":1, "role":"ROLE_USER", ...}</a:t>
            </a:r>
            <a:endParaRPr lang="en-US" sz="9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Signature: HMAC-SHA256(Header.Payload, secret)</a:t>
            </a:r>
            <a:endParaRPr lang="en-US" sz="900" dirty="0"/>
          </a:p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三段 Base64 编码，用 . 连接</a:t>
            </a:r>
            <a:endParaRPr lang="en-US" sz="9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注意：Payload 仅 Base64 编码，非加密！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安全机制 — 多层级防护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 — DEFENSE IN DEPTH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25880"/>
            <a:ext cx="731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3258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第一层：URL 权限规则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931920" y="13258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SecurityConfig.java 定义完整URL矩阵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31520" y="1673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/api/auth/** → 公开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1892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/api/movies GET → 公开，POST/PUT/DELETE → ADMIN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211226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/api/schedules/query/** → 公开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6733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/api/admin/** → SUPER_ADMIN / STAFF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846320" y="189280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/api/user/** → 需认证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514600"/>
            <a:ext cx="731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第二层：方法级权限 @PreAuthorize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931920" y="251460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更细粒度的控制，即使URL允许，方法仍可拒绝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31520" y="2862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重置密码 → 仅 SUPER_ADMIN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308152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启用/禁用员工 → 仅 SUPER_ADMIN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330098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禁止操作admin账号 → 代码级保护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846320" y="2862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双重防护：URL层 + 方法层 = 纵深防御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703320"/>
            <a:ext cx="73152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23" name="Text 21"/>
          <p:cNvSpPr/>
          <p:nvPr/>
        </p:nvSpPr>
        <p:spPr>
          <a:xfrm>
            <a:off x="731520" y="37033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第三层：数据安全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3931920" y="370332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密码保护与文件上传安全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731520" y="4050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BCrypt 加密存储（慢哈希+自动加盐）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31520" y="4270248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@JsonProperty(WRITE_ONLY) 防序列化泄露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" y="448970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文件魔数校验（JPEG FF D8 FF / PNG 89 50 4E 47）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846320" y="405079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上传大小限制 10MB + Content-Type校验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并发控制 — 座位乐观锁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— OPTIMISTIC LOCKING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 SQL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4114800" cy="685800"/>
          </a:xfrm>
          <a:prstGeom prst="rect">
            <a:avLst/>
          </a:prstGeom>
          <a:solidFill>
            <a:srgbClr val="F0F2F5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178308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seat SET status = 1, lock_time = NOW()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 id = #{seatId} AND status = 0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" y="2560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status = 0 是乐观锁的关键！只有空闲的座位才能被锁定。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并发抢座场景</a:t>
            </a:r>
            <a:endParaRPr lang="en-US" sz="1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0" y="1783080"/>
          <a:ext cx="3657600" cy="914400"/>
        </p:xfrm>
        <a:graphic>
          <a:graphicData uri="http://schemas.openxmlformats.org/drawingml/2006/table">
            <a:tbl>
              <a:tblPr/>
              <a:tblGrid>
                <a:gridCol w="54864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时序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张三的请求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李四的请求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T1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 status=0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 status=0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T2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 WHERE status=0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→ affected_rows=1 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T3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继续创建订单...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UPDATE WHERE status=0</a:t>
                      </a:r>
                      <a:endParaRPr lang="en-US" sz="1200" dirty="0"/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 → affected_rows=0 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T4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事务提交 ✓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抛异常 → 事务回滚 ✗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640080" y="3063240"/>
            <a:ext cx="7863840" cy="1600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822960" y="31546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乐观锁 vs 悲观锁</a:t>
            </a:r>
            <a:endParaRPr lang="en-US" sz="1400" dirty="0"/>
          </a:p>
        </p:txBody>
      </p:sp>
      <p:graphicFrame>
        <p:nvGraphicFramePr>
          <p:cNvPr id="3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77240" y="3520440"/>
          <a:ext cx="75895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3246120"/>
                <a:gridCol w="32461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乐观锁 (本项目)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悲观锁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思路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先操作，冲突后回滚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先锁数据，确认安全再操作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实现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WHERE status=0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SELECT ... FOR UPDATE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优势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无锁等待，高并发性能好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冲突多时避免回滚开销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适用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冲突概率低（选座场景）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冲突概率高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6" name="Text 12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并发控制 — 原子操作与事务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CONCURRENCY — ATOMIC OPS &amp; TRANSACTIONS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原子操作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1783080"/>
            <a:ext cx="393192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187452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sold_count 原子增减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2E7D32"/>
                </a:solidFill>
              </a:rPr>
              <a:t>✅ 正确：数据库层面原子运算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UPDATE schedule SET sold_count = sold_count + #{count}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C62828"/>
                </a:solidFill>
              </a:rPr>
              <a:t>❌ 错误：Java层面读写（非原子）</a:t>
            </a:r>
            <a:endParaRPr lang="en-US" sz="1000" dirty="0"/>
          </a:p>
          <a:p>
            <a:pPr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schedule.setSoldCount(schedule.getSoldCount() + N)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C62828"/>
                </a:solidFill>
              </a:rPr>
              <a:t>两个并发的+2可能只增加2而非4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0080" y="3611880"/>
            <a:ext cx="3931920" cy="1097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22960" y="365760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订单号唯一性双重保障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3977640"/>
            <a:ext cx="3566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① 应用层查重：生成后 selectByOrderNo 检查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</a:rPr>
              <a:t>② 数据库兜底：UNIQUE KEY uk_order_no 约束</a:t>
            </a:r>
            <a:endParaRPr lang="en-US" sz="1000" dirty="0"/>
          </a:p>
          <a:p>
            <a:pPr indent="0" marL="0">
              <a:buNone/>
            </a:pPr>
            <a:r>
              <a:rPr lang="en-US" sz="1000" i="1" dirty="0">
                <a:solidFill>
                  <a:srgbClr val="777777"/>
                </a:solidFill>
              </a:rPr>
              <a:t>极端并发时应用层可能漏检，但数据库约束保证最终唯一性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事务边界 @Transactional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029200" y="178308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212080" y="182880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createOrder()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212080" y="203911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INSERT订单 + UPDATE座位×N + UPDATE sold_count + INSERT日志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0" y="237744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5212080" y="242316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payOrder()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212080" y="263347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UPDATE座位 + UPDATE订单 + 核销优惠券 + 累积积分 + INSERT日志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029200" y="297180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212080" y="301752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51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reschedule()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12080" y="322783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释放旧座+锁新座+UPDATE旧订单+INSERT新订单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356616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212080" y="361188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refund()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12080" y="38221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释放座位 + UPDATE订单 + INSERT日志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4160520"/>
            <a:ext cx="3657600" cy="502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212080" y="4206240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cancelExpired()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212080" y="441655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释放座位+减sold_count+status→5+记日志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5029200" y="466344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@Transactional 默认 REQUIRED：有事务则加入，无则新建。运行时异常自动回滚。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前端设计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 ARCHITECTURE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Vue3 SPA 架构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页面路由（20个页面）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0312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用户端（10个）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首页 / 影片详情 / 选座 / 我的订单 / 我的优惠券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个人中心 / 会员中心 / 卖品浏览 / 登录 / 注册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管理端（10个）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仪表盘 / 影片 / 影厅 / 场次 / 订单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员工 / 会员 / 卖品 / 优惠券 / 交接班 / 统计 / 设置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SPA路由回退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History模式，非API请求→index.html→Vue Router接管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 拦截器 (Axios)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029200" y="1783080"/>
            <a:ext cx="3657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请求拦截</a:t>
            </a:r>
            <a:endParaRPr lang="en-US" sz="12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自动附加 Authorization: Bearer &lt;token&gt;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响应拦截</a:t>
            </a:r>
            <a:endParaRPr lang="en-US" sz="1200" dirty="0"/>
          </a:p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统一处理 code=401 → 跳转登录页</a:t>
            </a:r>
            <a:endParaRPr lang="en-US" sz="12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统一提取 response.data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0" y="3017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权限控制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029200" y="3474720"/>
            <a:ext cx="3657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路由守卫：无Token跳转登录，角色不匹配跳转首页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组件级权限：v-if 根据 permissions 数组控制显隐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管理端菜单：根据 roleCode 动态渲染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Pinia Store：全局管理 user/token/permissions 状态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项目亮点与难点 (1)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HIGHLIGHTS — PART 1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72768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座位乐观锁并发控制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status=0 实现无锁等待的并发选座，冲突时通过 @Transactional 回滚保证数据一致性。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13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订单状态机 + 改签价差处理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6种状态覆盖完整生命周期。改签时根据价差智能决定新订单是否需要支付。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0128"/>
            <a:ext cx="347472" cy="347472"/>
          </a:xfrm>
          <a:prstGeom prst="ellipse">
            <a:avLst/>
          </a:prstGeom>
          <a:solidFill>
            <a:srgbClr val="1A3A5C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会员积分 + 等级自动升级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消费1元=1分，积分达标自动升级。折扣率随等级提升，储值余额+积分兑换形成消费闭环。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78808"/>
            <a:ext cx="347472" cy="347472"/>
          </a:xfrm>
          <a:prstGeom prst="ellipse">
            <a:avLst/>
          </a:prstGeom>
          <a:solidFill>
            <a:srgbClr val="2E7D32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E7D3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票务+卖品+优惠券一体化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卖品订单可关联电影订单，卖品消费同样累积积分。优惠券支持固定金额与折扣率两种类型。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项目亮点与难点 (2)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HIGHLIGHTS — PART 2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Shape 5"/>
          <p:cNvSpPr/>
          <p:nvPr/>
        </p:nvSpPr>
        <p:spPr>
          <a:xfrm>
            <a:off x="457200" y="137160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40080" y="1572768"/>
            <a:ext cx="347472" cy="347472"/>
          </a:xfrm>
          <a:prstGeom prst="ellipse">
            <a:avLst/>
          </a:prstGeom>
          <a:solidFill>
            <a:srgbClr val="3B8BA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14447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 + Spring Security 双重认证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43000" y="1737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URL层规则 + 方法层@PreAuthorize双重防护。JWT无状态设计，白名单机制保证公开接口可访问。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24028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2441448"/>
            <a:ext cx="347472" cy="347472"/>
          </a:xfrm>
          <a:prstGeom prst="ellipse">
            <a:avLst/>
          </a:prstGeom>
          <a:solidFill>
            <a:srgbClr val="2C5F7C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244144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43000" y="23134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交接班收款对账机制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26060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上下班签到+多渠道收款记录(现金/微信/支付宝)+系统统计自动对比差额，保障资金安全。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" y="310896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40080" y="3310128"/>
            <a:ext cx="347472" cy="347472"/>
          </a:xfrm>
          <a:prstGeom prst="ellipse">
            <a:avLst/>
          </a:prstGeom>
          <a:solidFill>
            <a:srgbClr val="3B8BA8"/>
          </a:solidFill>
          <a:ln/>
        </p:spPr>
      </p:sp>
      <p:sp>
        <p:nvSpPr>
          <p:cNvPr id="19" name="Text 17"/>
          <p:cNvSpPr/>
          <p:nvPr/>
        </p:nvSpPr>
        <p:spPr>
          <a:xfrm>
            <a:off x="640080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43000" y="3182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数据库设计工程化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43000" y="34747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18张表，逻辑删除@TableLogic、乐观锁WHERE status=0、冗余字段优化JOIN、唯一约束兜底、自动填充时间戳。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8229600" cy="74980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40080" y="4178808"/>
            <a:ext cx="347472" cy="347472"/>
          </a:xfrm>
          <a:prstGeom prst="ellipse">
            <a:avLst/>
          </a:prstGeom>
          <a:solidFill>
            <a:srgbClr val="2C5F7C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1788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43000" y="40507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C5F7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SPA前后端合并部署 + 安全加固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43000" y="43434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Vue编译产物在static/，单JAR部署。文件上传魔数校验+BCrypt加密+@JsonProperty防泄露多维度安全。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1005840"/>
            <a:ext cx="9144000" cy="36576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37160"/>
            <a:ext cx="7863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总结与展望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59436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OUTLOOK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0" y="4864608"/>
            <a:ext cx="9144000" cy="278892"/>
          </a:xfrm>
          <a:prstGeom prst="rect">
            <a:avLst/>
          </a:prstGeom>
          <a:solidFill>
            <a:srgbClr val="EAF2F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项目成果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40080" y="178308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完整的前后端分离电影院综合管理系统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18张数据表，50+ RESTful API接口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覆盖票务+会员+卖品+优惠券+交接班全场景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JWT认证 + Spring Security多层级权限控制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座位乐观锁 + 原子操作保障并发安全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订单状态机 + 改签/退票/超时取消完整闭环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积分累积+等级自动升级+储值余额支付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SPA单页应用 + 前后端合并部署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0" y="1325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可改进方向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5029200" y="1783080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1" name="Text 9"/>
          <p:cNvSpPr/>
          <p:nvPr/>
        </p:nvSpPr>
        <p:spPr>
          <a:xfrm>
            <a:off x="5257800" y="178308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JWT主动失效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0" y="17830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引入Redis黑名单，改密/禁用后立即失效Token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0" y="2258568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4" name="Text 12"/>
          <p:cNvSpPr/>
          <p:nvPr/>
        </p:nvSpPr>
        <p:spPr>
          <a:xfrm>
            <a:off x="5257800" y="2258568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部分退票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858000" y="225856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支持多座位订单退掉其中部分座位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0" y="2734056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17" name="Text 15"/>
          <p:cNvSpPr/>
          <p:nvPr/>
        </p:nvSpPr>
        <p:spPr>
          <a:xfrm>
            <a:off x="5257800" y="2734056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座位差异化定价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858000" y="2734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VIP座位、中间位置与边缘位置不同价格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0" y="3209544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0" name="Text 18"/>
          <p:cNvSpPr/>
          <p:nvPr/>
        </p:nvSpPr>
        <p:spPr>
          <a:xfrm>
            <a:off x="5257800" y="3209544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Swagger文档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858000" y="3209544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引入SpringDoc自动生成API接口文档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0" y="3685032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3" name="Text 21"/>
          <p:cNvSpPr/>
          <p:nvPr/>
        </p:nvSpPr>
        <p:spPr>
          <a:xfrm>
            <a:off x="5257800" y="3685032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单元测试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0" y="3685032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补充Service/Mapper层测试用例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5029200" y="4160520"/>
            <a:ext cx="45720" cy="3657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26" name="Text 24"/>
          <p:cNvSpPr/>
          <p:nvPr/>
        </p:nvSpPr>
        <p:spPr>
          <a:xfrm>
            <a:off x="5257800" y="41605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3A5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OOM优化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858000" y="41605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统计查询使用SQL聚合替代全量加载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40080" y="4864608"/>
            <a:ext cx="7863840" cy="2788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777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A3A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63040"/>
            <a:ext cx="7315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3200400" y="2743200"/>
            <a:ext cx="2743200" cy="22860"/>
          </a:xfrm>
          <a:prstGeom prst="rect">
            <a:avLst/>
          </a:prstGeom>
          <a:solidFill>
            <a:srgbClr val="4A9EBC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6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TTMS 电影院综合管理系统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914400" y="35204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A9EB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Spring Boot + Vue3 的电影票务管理平台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4206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欢迎提问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TTMS电影院综合管理系统</dc:title>
  <dc:subject>PptxGenJS Presentation</dc:subject>
  <dc:creator>TTMS Team</dc:creator>
  <cp:lastModifiedBy>TTMS Team</cp:lastModifiedBy>
  <cp:revision>1</cp:revision>
  <dcterms:created xsi:type="dcterms:W3CDTF">2026-06-11T01:45:32Z</dcterms:created>
  <dcterms:modified xsi:type="dcterms:W3CDTF">2026-06-11T01:45:32Z</dcterms:modified>
</cp:coreProperties>
</file>